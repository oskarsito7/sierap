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del proyecto. SIERAP es el proyecto de aula del Momento 1 de Programación II, pero está pensado como el sistema real para gestionar la evaluación de los RAP en la UPC. La escalera de la derecha anticipa la idea central: los mismos 5 RAP se evalúan en tres momentos, con exigencia creciente.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RAP son cinco resultados institucionales. Cada uno empieza con un verbo que resume la competencia: integra, desarrolla, construye, gestiona y emprende. La rúbrica del proyecto de aula califica ítems asociados a estos mismos cinco 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I es donde estamos: tercer semestre, en Programación II. Momento II se evalúa en Ingeniería de Software II y Momento III en una electiva de profundización. La clave es que la evaluación es acumulativa y que estas reglas cambian por programa: por eso el sistema tiene que ser configurable.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guía oficial define un proyecto de 5 puntos con tres fases. Por defecto pide consola y archivos, pero el docente autorizó una aplicación web con base de datos, siempre que el backend esté en Java. La rúbrica sigue evaluando lo mismo: POO, arquitectura por capas y buenas prácticas.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problema central. Participan cuatro tipos de evaluadores, cada programa tiene tres momentos y, sin embargo, AULAWEB no genera ningún reporte que permita consolidar o comparar resultados. El cero es la carencia más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Leemos el árbol de abajo hacia arriba. Cuatro causas: el sistema no se diseñó para este flujo, no hay reportería, nada es configurable por programa y la gestión de grupos y evaluadores es manual. Eso produce el problema central y sus efectos: desgaste, falta de visibilidad del estudiante, imposibilidad de comparar y poca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de valor está en la franja superior: todo el sistema sigue el ciclo de vida de un RAP, desde el momento en que se evalúa hasta el reporte final. Qué es, por qué es distinto y para qué sirve: el factor diferenciador es que es específico para este flujo y configurable por facultad y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directa. Cada fila es una causa del árbol del problema convertida en una capacidad del sistema. La fila más importante es la última: los reportes comparativos no existen hoy y son la razón principal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roles y su alcance. La regla más importante: cada rol ve solo lo suyo. Un docente nunca ve grupos ajenos y un admin solo gestiona su facultad. Estos roles cubren los 12 requerimientos funcionales del documento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jerarquías. Las dos primeras son de herencia y muestran la POO que pide la rúbrica. La tercera es la estructura académica que el sistema permite configurar. La cuarta explica el control de acceso: cada rol ve estrictamente menos que el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rúbrica pide cuatro capas: datos, lógica, presentación y entidades. Aquí están las cuatro, más los componentes transversales. La regla es que cada capa solo usa a la inmediatamente inferior y que las entidades nunca salen de la API: siempre se responde con DTOs.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clases mejorado de la Fase 2: 26 clases entre usuarios, estructura académica, operación y evaluación. A la izquierda, cómo cubre cada técnica de POO que evalúa la rúbrica: abstracción, herencia, polimorfismo, interfaces, encapsulamiento y manejo de excepciones.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backend en Java con Spring Boot era obligatorio y encaja naturalmente con la arquitectura por capas. PostgreSQL por la reportería. React con TypeScript por la experiencia del equipo. Todas las decisiones están documentadas como ADR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etapas. Las tres primeras son bloqueantes: cimientos, modelo de dominio y seguridad. Desde la etapa 3 el trabajo va en paralelo por verticales, no por capas, para que nadie espere a otro. Las ramas: main es producción, develop es integración y cada trabajo nuevo va en una rama feature que entra por pull request revisado por otro integrante.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 tres ideas: el problema es que hoy no se pueden consolidar ni comparar los resultados de los RAP; la solución es un sistema diseñado específicamente para ese flujo y configurable; y el diseño cumple la rúbrica con POO completa y arquitectura por capas. Abrimos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AULA · MOMENTO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SIERAP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Evaluador de Resultados de Aprendizaje por Programa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Computadores II (SS300)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· Universidad Popular del Cesar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2026-2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15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[agregar nombres del equipo]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0" y="4206240"/>
            <a:ext cx="1280160" cy="1554480"/>
          </a:xfrm>
          <a:prstGeom prst="roundRect">
            <a:avLst>
              <a:gd name="adj" fmla="val 7143"/>
            </a:avLst>
          </a:prstGeom>
          <a:solidFill>
            <a:srgbClr val="1F6B4C"/>
          </a:solidFill>
          <a:ln w="12700">
            <a:solidFill>
              <a:srgbClr val="1F6B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4370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bajo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3017520"/>
            <a:ext cx="1280160" cy="2743200"/>
          </a:xfrm>
          <a:prstGeom prst="roundRect">
            <a:avLst>
              <a:gd name="adj" fmla="val 7143"/>
            </a:avLst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0684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II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medio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469880" y="1828800"/>
            <a:ext cx="1280160" cy="3931920"/>
          </a:xfrm>
          <a:prstGeom prst="roundRect">
            <a:avLst>
              <a:gd name="adj" fmla="val 7143"/>
            </a:avLst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6988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III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4698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alto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5897880"/>
            <a:ext cx="4297680" cy="0"/>
          </a:xfrm>
          <a:prstGeom prst="line">
            <a:avLst/>
          </a:prstGeom>
          <a:noFill/>
          <a:ln w="15875">
            <a:solidFill>
              <a:srgbClr val="4F7F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5989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RAP evaluados de forma acumulativa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RAP?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de Aprendizaje del Programa describen lo que todo ingeniero de sistemas de la UPC debe saber hacer al graduarse. Son obligatorios desde primer semestre.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777240" cy="7772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7925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6118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9136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44805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básicas y de ingeniería para resolver problemas reales con desarrollo sostenible.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98064" y="228600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54096" y="2606040"/>
            <a:ext cx="777240" cy="7772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634" y="279257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54096" y="36118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054096" y="39136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054096" y="44805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software que resuelven problemas reales con buenas prácticas y calidad.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47488" y="228600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03520" y="2606040"/>
            <a:ext cx="777240" cy="7772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58" y="279257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03520" y="36118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303520" y="39136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44805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computacionales basados en métodos analíticos y experimentales.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296912" y="228600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52944" y="2606040"/>
            <a:ext cx="777240" cy="7772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482" y="2792578"/>
            <a:ext cx="404165" cy="40416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52944" y="36118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RAP4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552944" y="39136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552944" y="44805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tecnologías de la información para las necesidades del entorno.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46336" y="228600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802368" y="2606040"/>
            <a:ext cx="777240" cy="7772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8906" y="2792578"/>
            <a:ext cx="404165" cy="4041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02368" y="36118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802368" y="39136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EMPRENDE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802368" y="44805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ciencia, tecnología e innovación, ética, liderazgo y colaboración.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evalúan de forma acumulativa, en tres momentos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2286000" cy="2103120"/>
          </a:xfrm>
          <a:prstGeom prst="roundRect">
            <a:avLst>
              <a:gd name="adj" fmla="val 4348"/>
            </a:avLst>
          </a:prstGeom>
          <a:solidFill>
            <a:srgbClr val="1F6B4C"/>
          </a:solidFill>
          <a:ln w="12700">
            <a:solidFill>
              <a:srgbClr val="1F6B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BAJO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83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Computadores II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3108960"/>
            <a:ext cx="2286000" cy="3063240"/>
          </a:xfrm>
          <a:prstGeom prst="roundRect">
            <a:avLst>
              <a:gd name="adj" fmla="val 4000"/>
            </a:avLst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II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MEDIO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III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ALTO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063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Electiva de profundización III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74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estamos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1874520"/>
            <a:ext cx="3337560" cy="4297680"/>
          </a:xfrm>
          <a:prstGeom prst="roundRect">
            <a:avLst>
              <a:gd name="adj" fmla="val 3288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0" y="21488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5" y="2324405"/>
            <a:ext cx="380390" cy="38039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5953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 vara, más exigencia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35661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momento reevalúa los mismos 5 RAP.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exigido sube: bajo → medio → alto.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programa y facultad puede tener sus propios RAP, momentos y puntajes.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pide el Momento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peso evaluativo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SS300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Computadores II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desarrollo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329184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29000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sustentación, nota individual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55595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5453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Problema y especificación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874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Planteamiento, estado del arte, descripción de la solución, entidades y diagrama de clases preliminar.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2670048"/>
            <a:ext cx="55595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2944368"/>
            <a:ext cx="548640" cy="548640"/>
          </a:xfrm>
          <a:prstGeom prst="ellipse">
            <a:avLst/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7980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Arquitectura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12724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mejorado, diagrama de paquetes y diseño de interfaces gráficas.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3922776"/>
            <a:ext cx="55595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197096"/>
            <a:ext cx="548640" cy="548640"/>
          </a:xfrm>
          <a:prstGeom prst="ellipse">
            <a:avLst/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050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Producto final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379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funcional con todas las funcionalidades, interfaz gráfica y persistencia.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0760" y="5230368"/>
            <a:ext cx="5559552" cy="960120"/>
          </a:xfrm>
          <a:prstGeom prst="roundRect">
            <a:avLst>
              <a:gd name="adj" fmla="val 11429"/>
            </a:avLst>
          </a:prstGeom>
          <a:solidFill>
            <a:srgbClr val="FDF3D7"/>
          </a:solidFill>
          <a:ln w="12700">
            <a:solidFill>
              <a:srgbClr val="F1D4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54406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4" y="5572354"/>
            <a:ext cx="285293" cy="285293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7040880" y="53400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ampliado con autorización del docente: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con base de datos real, en lugar de consola y archivos. Único requisito no negociable: backend en Java.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los RAP en AULAWEB es lento, manual y no deja ver resultados consolidados.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AULAWEB es un sistema propio de la UPC, pero no fue diseñado para el flujo de evaluación acumulativa por momentos.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24A3A"/>
          </a:solidFill>
          <a:ln w="12700">
            <a:solidFill>
              <a:srgbClr val="1E5E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976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434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evaluadores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estudiantes, empresarios y egresados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24A3A"/>
          </a:solidFill>
          <a:ln w="12700">
            <a:solidFill>
              <a:srgbClr val="1E5E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42976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434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por programa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sus RAP, fechas y grupos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24A3A"/>
          </a:solidFill>
          <a:ln w="12700">
            <a:solidFill>
              <a:srgbClr val="1E5E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21040" y="42976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4434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comparativos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momentos, semestres, programas o años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del problema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81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5960" y="13258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DF3D7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03120" y="1325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agotador para docentes y estudiantes en cada momento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7408" y="13258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DF3D7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325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no ve su desempeño acumulado por cada RAP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48856" y="13258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DF3D7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86016" y="1325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universidad no puede comparar semestres, programas o años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90304" y="13258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DF3D7"/>
          </a:solidFill>
          <a:ln w="12700">
            <a:solidFill>
              <a:srgbClr val="F1D4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27464" y="1325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 de versiones de entregas y de fechas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3063240"/>
            <a:ext cx="9610344" cy="1097280"/>
          </a:xfrm>
          <a:prstGeom prst="roundRect">
            <a:avLst>
              <a:gd name="adj" fmla="val 10000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306324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evaluación de los RAP en AULAWEB es poco intuitiva, dispendiosa y no consolida resultados entre momentos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48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65960" y="4892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03120" y="48920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AULAWEB no fue diseñado para evaluar RAP por momentos y niveles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07408" y="4892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48920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módulo de reportería: los datos quedan dispersos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48856" y="4892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86016" y="48920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RAP, momentos y puntajes no son configurables por programa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90304" y="4892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27464" y="48920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entregas y evaluadores externos se gestionan a mano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4160520"/>
            <a:ext cx="0" cy="73152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3108960" y="2468880"/>
            <a:ext cx="0" cy="59436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5550408" y="4160520"/>
            <a:ext cx="0" cy="73152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5550408" y="2468880"/>
            <a:ext cx="0" cy="59436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7991856" y="4160520"/>
            <a:ext cx="0" cy="73152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2468880"/>
            <a:ext cx="0" cy="59436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10433304" y="4160520"/>
            <a:ext cx="0" cy="73152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10433304" y="2468880"/>
            <a:ext cx="0" cy="594360"/>
          </a:xfrm>
          <a:prstGeom prst="line">
            <a:avLst/>
          </a:prstGeom>
          <a:noFill/>
          <a:ln w="19050">
            <a:solidFill>
              <a:srgbClr val="8AA79A"/>
            </a:solidFill>
            <a:prstDash val="solid"/>
            <a:head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SIERAP gira alrededor del ciclo de vida de un RAP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00784" cy="868680"/>
          </a:xfrm>
          <a:prstGeom prst="homePlate">
            <a:avLst/>
          </a:prstGeom>
          <a:solidFill>
            <a:srgbClr val="0B3B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39696" y="1417320"/>
            <a:ext cx="1700784" cy="868680"/>
          </a:xfrm>
          <a:prstGeom prst="chevron">
            <a:avLst/>
          </a:prstGeom>
          <a:solidFill>
            <a:srgbClr val="124A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87168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30752" y="1417320"/>
            <a:ext cx="1700784" cy="868680"/>
          </a:xfrm>
          <a:prstGeom prst="chevron">
            <a:avLst/>
          </a:prstGeom>
          <a:solidFill>
            <a:srgbClr val="1F6B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78224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21808" y="1417320"/>
            <a:ext cx="1700784" cy="868680"/>
          </a:xfrm>
          <a:prstGeom prst="chevron">
            <a:avLst/>
          </a:prstGeom>
          <a:solidFill>
            <a:srgbClr val="157A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12864" y="1417320"/>
            <a:ext cx="1700784" cy="868680"/>
          </a:xfrm>
          <a:prstGeom prst="chevron">
            <a:avLst/>
          </a:prstGeom>
          <a:solidFill>
            <a:srgbClr val="21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0336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417320"/>
            <a:ext cx="1700784" cy="868680"/>
          </a:xfrm>
          <a:prstGeom prst="chevron">
            <a:avLst/>
          </a:prstGeom>
          <a:solidFill>
            <a:srgbClr val="2E9E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51392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multi-rol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94976" y="1417320"/>
            <a:ext cx="1700784" cy="868680"/>
          </a:xfrm>
          <a:prstGeom prst="chevron">
            <a:avLst/>
          </a:prstGeom>
          <a:solidFill>
            <a:srgbClr val="F2A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42448" y="141732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108960"/>
            <a:ext cx="822960" cy="82296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306470"/>
            <a:ext cx="427939" cy="427939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6868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617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web para gestionar grupos, entregas versionadas, evaluaciones de varios roles y reportes de los RAP.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15968" y="2743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36008" y="3108960"/>
            <a:ext cx="822960" cy="82296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3306470"/>
            <a:ext cx="427939" cy="42793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63600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 distinto</a:t>
            </a:r>
            <a:endParaRPr lang="en-US" sz="2100" dirty="0"/>
          </a:p>
        </p:txBody>
      </p:sp>
      <p:sp>
        <p:nvSpPr>
          <p:cNvPr id="27" name="Text 23"/>
          <p:cNvSpPr txBox="1"/>
          <p:nvPr/>
        </p:nvSpPr>
        <p:spPr>
          <a:xfrm>
            <a:off x="4636008" y="4617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AULAWEB, está pensado solo para este flujo y es configurable por facultad y programa: nada queda fijo en el código.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083296" y="2743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03336" y="3108960"/>
            <a:ext cx="822960" cy="82296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46" y="3306470"/>
            <a:ext cx="427939" cy="427939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403336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 sirve</a:t>
            </a:r>
            <a:endParaRPr lang="en-US" sz="2100" dirty="0"/>
          </a:p>
        </p:txBody>
      </p:sp>
      <p:sp>
        <p:nvSpPr>
          <p:cNvPr id="32" name="Text 27"/>
          <p:cNvSpPr txBox="1"/>
          <p:nvPr/>
        </p:nvSpPr>
        <p:spPr>
          <a:xfrm>
            <a:off x="8403336" y="4617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desgaste operativo, trazabilidad real de entregas y notas, y decisiones curriculares basadas en datos consolidados.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AULAWEB a SIERAP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13716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AULAWEB hoy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75320" y="1371600"/>
            <a:ext cx="3364992" cy="457200"/>
          </a:xfrm>
          <a:prstGeom prst="roundRect">
            <a:avLst>
              <a:gd name="adj" fmla="val 20000"/>
            </a:avLst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13716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91672" cy="73152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pensado para RAP por momentos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23113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3212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2311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1540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específico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2743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RAP, momentos y puntajes configurables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9626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32120" y="2743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96265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1540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admin y super_admin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474720"/>
            <a:ext cx="11091672" cy="73152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1520" y="3474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y entregas con historial</a:t>
            </a:r>
            <a:endParaRPr lang="en-US" sz="1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69417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32120" y="3474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poco estructurado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694176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1540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automático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31520" y="4206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empresarios y egresados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425696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532120" y="4206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estructurada</a:t>
            </a:r>
            <a:endParaRPr lang="en-US" sz="14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425696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915400" y="4206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y ventana de fechas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3152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del estudiante por RAP</a:t>
            </a:r>
            <a:endParaRPr lang="en-US" sz="15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5157216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532120" y="4937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clara</a:t>
            </a:r>
            <a:endParaRPr lang="en-US" sz="14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5157216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91540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individual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731520" y="5669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comparativos</a:t>
            </a:r>
            <a:endParaRPr lang="en-US" sz="15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5888736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532120" y="56692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</a:t>
            </a:r>
            <a:endParaRPr lang="en-US" sz="1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5888736"/>
            <a:ext cx="292608" cy="292608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8915400" y="5669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Individuales, grupales y comparativos</a:t>
            </a:r>
            <a:endParaRPr lang="en-US" sz="1400" dirty="0"/>
          </a:p>
        </p:txBody>
      </p:sp>
      <p:sp>
        <p:nvSpPr>
          <p:cNvPr id="42" name="Text 2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roles, cada uno con su alcance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6420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39773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664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0665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institución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parámetros globales y facultades.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15968" y="1371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166420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183977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04688" y="1664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(decano)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504688" y="20665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facultad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momentos y RAP de cada programa.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83296" y="1371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66420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1839773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72016" y="1664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Docente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9272016" y="20665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grupos asignados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grupos, fija fechas y registra evaluadores externos.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390448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5" y="4080053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37360" y="3904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1737360" y="4306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grupo y su proyecto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entregas versionadas y consulta su nota por RAP.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15968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0288" y="390448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4080053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504688" y="3904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Empresario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5504688" y="4306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que se le asignan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590288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los proyectos dentro de la fecha estipulada.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8083296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57616" y="3904488"/>
            <a:ext cx="731520" cy="7315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181" y="4080053"/>
            <a:ext cx="380390" cy="38039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272016" y="3904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Egresado</a:t>
            </a:r>
            <a:endParaRPr lang="en-US" sz="1900" dirty="0"/>
          </a:p>
        </p:txBody>
      </p:sp>
      <p:sp>
        <p:nvSpPr>
          <p:cNvPr id="38" name="Text 30"/>
          <p:cNvSpPr txBox="1"/>
          <p:nvPr/>
        </p:nvSpPr>
        <p:spPr>
          <a:xfrm>
            <a:off x="9272016" y="4306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que se le asignan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357616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los proyectos dentro de la fecha estipulada.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requerimientos funcionales · el control de acceso por rol se valida en la capa de servicio, no solo en la interfaz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Jerarquías del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786162" y="1252728"/>
            <a:ext cx="7064462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C:/Users/OSCANDE/OneDrive/Datos adjuntos/Desktop/Oscar/SIERAP/SIERAP/docs/diagramas/diagrama_jerarqu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314" y="1325880"/>
            <a:ext cx="6918158" cy="5257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Herencia de usuarios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19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abstracta con 6 roles; la interfaz Evaluador une a quienes califican.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59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Reportes y excepciones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066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implementa generar(); los errores heredan de SierapException.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Estructura académica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941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→ facultad → programa → momento → RAP, y la operación de cada momento.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34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Roles y alcance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817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ve solo un subconjunto de lo que ve el nivel superior.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32070" y="1252728"/>
            <a:ext cx="6718554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C:/Users/OSCANDE/OneDrive/Datos adjuntos/Desktop/Oscar/SIERAP/SIERAP/docs/diagramas/diagrama_cap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5222" y="1325880"/>
            <a:ext cx="6572250" cy="5257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137160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171907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en el cliente; controller, dto y mapper en la API.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DE4FB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2359152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2706624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y service.impl: todas las reglas del dominio.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3346704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694176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 Spring Data JPA sobre PostgreSQL.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799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4334256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" y="4681728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y enums: el modelo de clases del dominio.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3675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532180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" y="566928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(JWT), exception (@ControllerAdvice) y config.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clases del dominio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491697" y="1252728"/>
            <a:ext cx="7358927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C:/Users/OSCANDE/OneDrive/Datos adjuntos/Desktop/Oscar/SIERAP/SIERAP/docs/diagramas/diagrama_clases_mej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849" y="1325880"/>
            <a:ext cx="7212623" cy="5257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19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Reporte son clases abstractas.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y polimorfismo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066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 y 3 reportes sobrescriben getRol() y generar().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46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941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Evaluador: docente, empresario y egresado.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34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81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privados con acceso por métodos.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21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SierapException centralizada en @ControllerAdvice.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66160" cy="1508760"/>
          </a:xfrm>
          <a:prstGeom prst="rect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 + Spring Boot 3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del docente. Capas controller → service → repository → entity y Spring Security con JWT para los seis roles.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5968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1417320"/>
            <a:ext cx="3566160" cy="1508760"/>
          </a:xfrm>
          <a:prstGeom prst="rect">
            <a:avLst/>
          </a:prstGeom>
          <a:solidFill>
            <a:srgbClr val="124A3A"/>
          </a:solidFill>
          <a:ln w="12700">
            <a:solidFill>
              <a:srgbClr val="124A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373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7033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la jerarquía relacional del dominio y las agregaciones que necesita la reportería comparativa.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83296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83296" y="1417320"/>
            <a:ext cx="3566160" cy="1508760"/>
          </a:xfrm>
          <a:prstGeom prst="rect">
            <a:avLst/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7373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3336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03336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TypeScript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403336" y="37033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del equipo; vistas diferenciadas por rol y formularios de configuración.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quedó registrada como ADR en docs/05-decisiones-tecnicas.md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trabajo: 9 etapas, 3 personas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9948672" cy="0"/>
          </a:xfrm>
          <a:prstGeom prst="line">
            <a:avLst/>
          </a:prstGeom>
          <a:noFill/>
          <a:ln w="38100">
            <a:solidFill>
              <a:srgbClr val="CFE9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B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20824" y="1783080"/>
            <a:ext cx="457200" cy="457200"/>
          </a:xfrm>
          <a:prstGeom prst="ellipse">
            <a:avLst/>
          </a:prstGeom>
          <a:solidFill>
            <a:srgbClr val="0B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208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1783080"/>
            <a:ext cx="457200" cy="457200"/>
          </a:xfrm>
          <a:prstGeom prst="ellipse">
            <a:avLst/>
          </a:prstGeom>
          <a:solidFill>
            <a:srgbClr val="0B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644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y acceso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1783080"/>
            <a:ext cx="457200" cy="457200"/>
          </a:xfrm>
          <a:prstGeom prst="ellipse">
            <a:avLst/>
          </a:prstGeom>
          <a:solidFill>
            <a:srgbClr val="15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académica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51576" y="1783080"/>
            <a:ext cx="457200" cy="457200"/>
          </a:xfrm>
          <a:prstGeom prst="ellipse">
            <a:avLst/>
          </a:prstGeom>
          <a:solidFill>
            <a:srgbClr val="15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515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docente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1783080"/>
            <a:ext cx="457200" cy="457200"/>
          </a:xfrm>
          <a:prstGeom prst="ellipse">
            <a:avLst/>
          </a:prstGeom>
          <a:solidFill>
            <a:srgbClr val="15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38744" y="1783080"/>
            <a:ext cx="457200" cy="457200"/>
          </a:xfrm>
          <a:prstGeom prst="ellipse">
            <a:avLst/>
          </a:prstGeom>
          <a:solidFill>
            <a:srgbClr val="15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874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27264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82328" y="1783080"/>
            <a:ext cx="457200" cy="457200"/>
          </a:xfrm>
          <a:prstGeom prst="ellipse">
            <a:avLst/>
          </a:prstGeom>
          <a:solidFill>
            <a:srgbClr val="15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823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070848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25912" y="1783080"/>
            <a:ext cx="457200" cy="457200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2591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314432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0–2 secuenciales · desde la 3 en paralelo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246120"/>
            <a:ext cx="57607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3392424"/>
            <a:ext cx="548640" cy="5486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481328" y="33375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481328" y="36667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JWT, excepciones, CI y revisión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233672"/>
            <a:ext cx="57607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4379976"/>
            <a:ext cx="548640" cy="5486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379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481328" y="4325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académico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481328" y="46542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Facultad, programa, momentos, RAP y reportes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5221224"/>
            <a:ext cx="57607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5367528"/>
            <a:ext cx="548640" cy="54864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481328" y="53126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evaluación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481328" y="56418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entregas, evaluación multi-rol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629400" y="3246120"/>
            <a:ext cx="5010912" cy="2816352"/>
          </a:xfrm>
          <a:prstGeom prst="roundRect">
            <a:avLst>
              <a:gd name="adj" fmla="val 3896"/>
            </a:avLst>
          </a:prstGeom>
          <a:solidFill>
            <a:srgbClr val="E6F4EC"/>
          </a:solidFill>
          <a:ln w="12700">
            <a:solidFill>
              <a:srgbClr val="CFE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3474720"/>
            <a:ext cx="411480" cy="411480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745236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ramas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6949440" y="4206240"/>
            <a:ext cx="237744" cy="237744"/>
          </a:xfrm>
          <a:prstGeom prst="ellipse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60920" y="4114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8503920" y="4114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producción: solo entregas estables, con tag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949440" y="4809744"/>
            <a:ext cx="237744" cy="237744"/>
          </a:xfrm>
          <a:prstGeom prst="ellipse">
            <a:avLst/>
          </a:prstGeom>
          <a:solidFill>
            <a:srgbClr val="157A4F"/>
          </a:solidFill>
          <a:ln w="12700">
            <a:solidFill>
              <a:srgbClr val="157A4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360920" y="471830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8503920" y="47183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siempre compila, entra por PR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949440" y="5413248"/>
            <a:ext cx="237744" cy="23774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360920" y="532180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8503920" y="5321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desarrollo, arreglo o prueba nueva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registro disperso a decisiones basadas en datos.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rgbClr val="124A3A"/>
          </a:solidFill>
          <a:ln w="12700">
            <a:solidFill>
              <a:srgbClr val="124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3192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3136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35021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AULAWEB no consolida ni compara resultados de los RAP.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5968" y="3154680"/>
            <a:ext cx="685800" cy="685800"/>
          </a:xfrm>
          <a:prstGeom prst="ellipse">
            <a:avLst/>
          </a:prstGeom>
          <a:solidFill>
            <a:srgbClr val="124A3A"/>
          </a:solidFill>
          <a:ln w="12700">
            <a:solidFill>
              <a:srgbClr val="124A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31927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84648" y="3136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184648" y="35021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configurable diseñado para el ciclo de vida de un RAP.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3296" y="3154680"/>
            <a:ext cx="685800" cy="685800"/>
          </a:xfrm>
          <a:prstGeom prst="ellipse">
            <a:avLst/>
          </a:prstGeom>
          <a:solidFill>
            <a:srgbClr val="124A3A"/>
          </a:solidFill>
          <a:ln w="12700">
            <a:solidFill>
              <a:srgbClr val="124A3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31927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51976" y="3136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951976" y="35021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completa y arquitectura por capas en Java + Spring Boot.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892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github.com/Oskarsito7/SIERAP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Universidad Popular del Cesar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SIERAP — Proyecto de aula Momento 1</dc:title>
  <dc:subject>PptxGenJS Presentation</dc:subject>
  <dc:creator>PptxGenJS</dc:creator>
  <cp:lastModifiedBy>PptxGenJS</cp:lastModifiedBy>
  <cp:revision>1</cp:revision>
  <dcterms:created xsi:type="dcterms:W3CDTF">2026-09-15T22:06:44Z</dcterms:created>
  <dcterms:modified xsi:type="dcterms:W3CDTF">2026-09-15T22:06:44Z</dcterms:modified>
</cp:coreProperties>
</file>